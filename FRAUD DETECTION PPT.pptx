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 Medium"/>
      <p:regular r:id="rId17"/>
    </p:embeddedFont>
    <p:embeddedFont>
      <p:font typeface="Alexandria Medium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4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77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CREDIT CARD FRAUD DETECTION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76061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Using Machine Learning &amp; Deep Learning Techniques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25017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By: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Group-11 (Saba Zulfiqar, Manal Shahzad, Ifra Altaf)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8682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Submitted To: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Dr. Nadeem Iqbal, Institute of Computing, Muhammad Nawaz Sharif University of Agriculture Multan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849183"/>
            <a:ext cx="1143000" cy="1112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9849" y="872371"/>
            <a:ext cx="7744301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Executive Summary: Fraud Detection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99849" y="2421969"/>
            <a:ext cx="77443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report details a Credit Card Fraud Detection system using ML and DL techniques to identify fraudulent transactions in highly imbalanced datasets.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9849" y="3586877"/>
            <a:ext cx="3772138" cy="1795224"/>
          </a:xfrm>
          <a:prstGeom prst="roundRect">
            <a:avLst>
              <a:gd name="adj" fmla="val 6112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49" y="3564017"/>
            <a:ext cx="3772138" cy="914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286958"/>
            <a:ext cx="599837" cy="5998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65903" y="3436858"/>
            <a:ext cx="239911" cy="299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22615" y="4086820"/>
            <a:ext cx="249971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Challenge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922615" y="4519255"/>
            <a:ext cx="33266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284,807 transactions with only 492 (0.17%) fraudulent cases.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4671893" y="3586877"/>
            <a:ext cx="3772257" cy="1795224"/>
          </a:xfrm>
          <a:prstGeom prst="roundRect">
            <a:avLst>
              <a:gd name="adj" fmla="val 6112"/>
            </a:avLst>
          </a:prstGeom>
          <a:solidFill>
            <a:srgbClr val="FFFFF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893" y="3564017"/>
            <a:ext cx="3772257" cy="9144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044" y="3286958"/>
            <a:ext cx="599837" cy="59983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37948" y="3436858"/>
            <a:ext cx="239911" cy="299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4894659" y="4086820"/>
            <a:ext cx="249971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Techniques Used</a:t>
            </a: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4894659" y="4519255"/>
            <a:ext cx="33267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NearMiss undersampling &amp; SMOTE oversampling.</a:t>
            </a:r>
            <a:endParaRPr lang="en-US" sz="1550" dirty="0"/>
          </a:p>
        </p:txBody>
      </p:sp>
      <p:sp>
        <p:nvSpPr>
          <p:cNvPr id="17" name="Shape 10"/>
          <p:cNvSpPr/>
          <p:nvPr/>
        </p:nvSpPr>
        <p:spPr>
          <a:xfrm>
            <a:off x="699849" y="5881926"/>
            <a:ext cx="7744301" cy="147518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49" y="5859066"/>
            <a:ext cx="7744301" cy="9144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2082" y="5582007"/>
            <a:ext cx="599837" cy="599837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451985" y="5731907"/>
            <a:ext cx="239911" cy="299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850" dirty="0"/>
          </a:p>
        </p:txBody>
      </p:sp>
      <p:sp>
        <p:nvSpPr>
          <p:cNvPr id="21" name="Text 12"/>
          <p:cNvSpPr/>
          <p:nvPr/>
        </p:nvSpPr>
        <p:spPr>
          <a:xfrm>
            <a:off x="922615" y="6381869"/>
            <a:ext cx="249971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Models Trained</a:t>
            </a:r>
            <a:endParaRPr lang="en-US" sz="1950" dirty="0"/>
          </a:p>
        </p:txBody>
      </p:sp>
      <p:sp>
        <p:nvSpPr>
          <p:cNvPr id="22" name="Text 13"/>
          <p:cNvSpPr/>
          <p:nvPr/>
        </p:nvSpPr>
        <p:spPr>
          <a:xfrm>
            <a:off x="922615" y="6814304"/>
            <a:ext cx="7298769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Logistic Regression, Random Forest, Neural Networks.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480" y="876538"/>
            <a:ext cx="7661672" cy="625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Achievements &amp; Workflow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980480" y="1902976"/>
            <a:ext cx="4089559" cy="2290763"/>
          </a:xfrm>
          <a:prstGeom prst="roundRect">
            <a:avLst>
              <a:gd name="adj" fmla="val 1311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363" y="2110859"/>
            <a:ext cx="600908" cy="60090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3622" y="2316004"/>
            <a:ext cx="270391" cy="2703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363" y="2912031"/>
            <a:ext cx="3092172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Random Forest + SMOTE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188363" y="3345061"/>
            <a:ext cx="3673793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Achieved an impressive ROC-AUC of 0.999 (99.9%).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5270302" y="1902976"/>
            <a:ext cx="4089559" cy="2290763"/>
          </a:xfrm>
          <a:prstGeom prst="roundRect">
            <a:avLst>
              <a:gd name="adj" fmla="val 1311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185" y="2110859"/>
            <a:ext cx="600908" cy="60090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3443" y="2316004"/>
            <a:ext cx="270391" cy="2703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78185" y="2912031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Neural Network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5478185" y="3345061"/>
            <a:ext cx="3673793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Demonstrated 100% test accuracy with perfect fraud detection.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9560123" y="1902976"/>
            <a:ext cx="4089678" cy="2290763"/>
          </a:xfrm>
          <a:prstGeom prst="roundRect">
            <a:avLst>
              <a:gd name="adj" fmla="val 1311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8007" y="2110859"/>
            <a:ext cx="600908" cy="60090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33265" y="2316004"/>
            <a:ext cx="270391" cy="27039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768007" y="2912031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Indicators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9768007" y="3345061"/>
            <a:ext cx="3673912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V14, V12, V10, V17 identified as crucial negative correlation features.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980480" y="4419005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480" y="4736425"/>
            <a:ext cx="6234470" cy="228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80480" y="4882277"/>
            <a:ext cx="2546033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Understanding</a:t>
            </a:r>
            <a:endParaRPr lang="en-US" sz="1950" dirty="0"/>
          </a:p>
        </p:txBody>
      </p:sp>
      <p:sp>
        <p:nvSpPr>
          <p:cNvPr id="21" name="Text 12"/>
          <p:cNvSpPr/>
          <p:nvPr/>
        </p:nvSpPr>
        <p:spPr>
          <a:xfrm>
            <a:off x="980480" y="5315307"/>
            <a:ext cx="6234470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EDA &amp; visualizations revealed 0.17% fraud rate.</a:t>
            </a:r>
            <a:endParaRPr lang="en-US" sz="1550" dirty="0"/>
          </a:p>
        </p:txBody>
      </p:sp>
      <p:sp>
        <p:nvSpPr>
          <p:cNvPr id="22" name="Text 13"/>
          <p:cNvSpPr/>
          <p:nvPr/>
        </p:nvSpPr>
        <p:spPr>
          <a:xfrm>
            <a:off x="7415213" y="4419005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5213" y="4736425"/>
            <a:ext cx="6234589" cy="2286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415213" y="4882277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Preprocessing</a:t>
            </a:r>
            <a:endParaRPr lang="en-US" sz="1950" dirty="0"/>
          </a:p>
        </p:txBody>
      </p:sp>
      <p:sp>
        <p:nvSpPr>
          <p:cNvPr id="25" name="Text 15"/>
          <p:cNvSpPr/>
          <p:nvPr/>
        </p:nvSpPr>
        <p:spPr>
          <a:xfrm>
            <a:off x="7415213" y="5315307"/>
            <a:ext cx="6234589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Scaling &amp; stratified splitting for standardized features.</a:t>
            </a:r>
            <a:endParaRPr lang="en-US" sz="1550" dirty="0"/>
          </a:p>
        </p:txBody>
      </p:sp>
      <p:sp>
        <p:nvSpPr>
          <p:cNvPr id="26" name="Text 16"/>
          <p:cNvSpPr/>
          <p:nvPr/>
        </p:nvSpPr>
        <p:spPr>
          <a:xfrm>
            <a:off x="980480" y="5986105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0480" y="6283523"/>
            <a:ext cx="6234470" cy="2286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80480" y="6449378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Sampling</a:t>
            </a:r>
            <a:endParaRPr lang="en-US" sz="1950" dirty="0"/>
          </a:p>
        </p:txBody>
      </p:sp>
      <p:sp>
        <p:nvSpPr>
          <p:cNvPr id="29" name="Text 18"/>
          <p:cNvSpPr/>
          <p:nvPr/>
        </p:nvSpPr>
        <p:spPr>
          <a:xfrm>
            <a:off x="980480" y="6882408"/>
            <a:ext cx="6234470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NearMiss &amp; SMOTE for balanced datasets.</a:t>
            </a:r>
            <a:endParaRPr lang="en-US" sz="1550" dirty="0"/>
          </a:p>
        </p:txBody>
      </p:sp>
      <p:sp>
        <p:nvSpPr>
          <p:cNvPr id="30" name="Text 19"/>
          <p:cNvSpPr/>
          <p:nvPr/>
        </p:nvSpPr>
        <p:spPr>
          <a:xfrm>
            <a:off x="7415213" y="5986105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5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5213" y="6283523"/>
            <a:ext cx="6234589" cy="228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415213" y="6449378"/>
            <a:ext cx="2821543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Modeling &amp; Evaluation</a:t>
            </a:r>
            <a:endParaRPr lang="en-US" sz="1950" dirty="0"/>
          </a:p>
        </p:txBody>
      </p:sp>
      <p:sp>
        <p:nvSpPr>
          <p:cNvPr id="33" name="Text 21"/>
          <p:cNvSpPr/>
          <p:nvPr/>
        </p:nvSpPr>
        <p:spPr>
          <a:xfrm>
            <a:off x="7415213" y="6882408"/>
            <a:ext cx="6234589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LR, RF, NN, evaluated with ROC-AUC, PR curves, Confusion Matrix.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6115" y="439817"/>
            <a:ext cx="4301609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&amp; Objectives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2256115" y="1339453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Statement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2256115" y="1799153"/>
            <a:ext cx="4863941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Credit card fraud costs billions. Traditional rule-based systems fail against evolving patterns. ML offers a data-driven approach, but extreme class imbalance (99.83% vs 0.17%) is a major challenge.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6115" y="2747010"/>
            <a:ext cx="4863941" cy="48639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7963" y="1339453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17963" y="1799153"/>
            <a:ext cx="4863941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 comprehensive EDA to understand data.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17963" y="2111097"/>
            <a:ext cx="4863941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Handle extreme class imbalance using sampling techniques.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17963" y="2423041"/>
            <a:ext cx="4863941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 Logistic Regression, Random Forest, and Neural Network models.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17963" y="2990969"/>
            <a:ext cx="4863941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model performances using ROC-AUC, Precision-Recall, and Confusion Matrix.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623173"/>
            <a:ext cx="5665351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075" y="1784390"/>
            <a:ext cx="13044249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Kaggle Credit Card Fraud Detection dataset contains European cardholder transactions from September 2013 over two days.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075" y="2764155"/>
            <a:ext cx="13044249" cy="3263265"/>
          </a:xfrm>
          <a:prstGeom prst="roundRect">
            <a:avLst>
              <a:gd name="adj" fmla="val 1041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695" y="2771775"/>
            <a:ext cx="13029009" cy="6496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7390" y="2915364"/>
            <a:ext cx="280023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Transactions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8393" y="2915364"/>
            <a:ext cx="279642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284,807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586" y="2915364"/>
            <a:ext cx="6057543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dataset size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0695" y="3421380"/>
            <a:ext cx="13029009" cy="6496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7390" y="3564969"/>
            <a:ext cx="280023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Fraudulent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8393" y="3564969"/>
            <a:ext cx="279642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492 (0.17%)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586" y="3564969"/>
            <a:ext cx="6057543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Minority class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0695" y="4070985"/>
            <a:ext cx="13029009" cy="6496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7390" y="4214574"/>
            <a:ext cx="280023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Non-Fraudulent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288393" y="4214574"/>
            <a:ext cx="279642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284,315 (99.83%)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586" y="4214574"/>
            <a:ext cx="6057543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Majority class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0695" y="4720590"/>
            <a:ext cx="13029009" cy="6496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7390" y="4864179"/>
            <a:ext cx="280023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288393" y="4864179"/>
            <a:ext cx="279642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586" y="4864179"/>
            <a:ext cx="6057543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 features + target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0695" y="5370195"/>
            <a:ext cx="13029009" cy="6496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7390" y="5513784"/>
            <a:ext cx="280023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Missing Values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288393" y="5513784"/>
            <a:ext cx="279642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45586" y="5513784"/>
            <a:ext cx="6057543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dataset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793075" y="6282333"/>
            <a:ext cx="13044249" cy="1325166"/>
          </a:xfrm>
          <a:prstGeom prst="roundRect">
            <a:avLst>
              <a:gd name="adj" fmla="val 25652"/>
            </a:avLst>
          </a:prstGeom>
          <a:solidFill>
            <a:srgbClr val="B3E7FE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651" y="6633805"/>
            <a:ext cx="283250" cy="22657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29477" y="6565463"/>
            <a:ext cx="12081272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naive model predicting all 'No Fraud' achieves 99.83% accuracy but detects ZERO frauds! This highlights the need for specialized metrics and techniques.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623887"/>
            <a:ext cx="9007197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Exploratory Data Analysis (EDA)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075" y="1785104"/>
            <a:ext cx="13044249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EDA reveals data structure, patterns, and anomalies crucial for modeling decisions.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075" y="2629019"/>
            <a:ext cx="3399234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Class Distribution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075" y="3308747"/>
            <a:ext cx="3657600" cy="2750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075" y="6314480"/>
            <a:ext cx="6245662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Dramatic visualization of 578:1 class imbalance. Class 0 (No Fraud) dominates with ~284,000 transactions, while Class 1 (Fraud) has only 492.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283" y="2629019"/>
            <a:ext cx="427315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Transaction Distributions</a:t>
            </a:r>
            <a:endParaRPr lang="en-US" sz="2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283" y="3308747"/>
            <a:ext cx="5280660" cy="1432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99283" y="4996220"/>
            <a:ext cx="6245662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Amount: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Highly right-skewed, most transactions are small.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Bimodal, indicating two days of data with fewer nighttime transactions.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5438" y="413980"/>
            <a:ext cx="7951946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Preprocessing &amp; Imbalance Handling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555438" y="1185267"/>
            <a:ext cx="9519523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V1-V28 are PCA-scaled; we scaled Time and Amount. Stratified K-Fold ensures class proportions are maintained in splits.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555438" y="1745813"/>
            <a:ext cx="2257544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Scaled Features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555438" y="2178487"/>
            <a:ext cx="4576167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StandardScaler applied to 'Amount' and 'Time', creating 'scaled_amount' and 'scaled_time'. This ensures all features contribute equally.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438" y="3070027"/>
            <a:ext cx="4576167" cy="45761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06414" y="1745813"/>
            <a:ext cx="362807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Balanced Subsample (NearMiss)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06414" y="2178487"/>
            <a:ext cx="4576167" cy="4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NearMiss undersampling created a perfectly balanced dataset with 492 fraud and 492 non-fraud samples.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414" y="2829282"/>
            <a:ext cx="3230880" cy="2567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786"/>
            <a:ext cx="85091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 Analysis &amp; Correlation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91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Analyzing correlations helps identify features most indicative of fraud.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64061"/>
            <a:ext cx="477047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Balanced Correlation Matrix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44503"/>
            <a:ext cx="5265420" cy="20802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97991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balanced data, true correlations emerge. Features show clear positive (dark blue) and negative (dark red) correlations with fraud.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2964061"/>
            <a:ext cx="349793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Fraud Indicators</a:t>
            </a:r>
            <a:endParaRPr lang="en-US" sz="2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644503"/>
            <a:ext cx="5257800" cy="144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99521" y="534745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V17, V14, V12, V10 show strong negative correlation; lower values indicate higher fraud probability. V11, V4, V2, V19 show positive correlation.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2476"/>
            <a:ext cx="123424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Dimensionality Reduction &amp; Model Training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48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Dimensionality reduction visualizes data, while models learn fraud patterns.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69751"/>
            <a:ext cx="62447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Clusters using Dimensionality Reduction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875484"/>
            <a:ext cx="5273040" cy="16535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78417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t-SNE shows distinct, well-separated fraud clusters, confirming ML can distinguish them. PCA and Truncated SVD also show separability.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2769751"/>
            <a:ext cx="41055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ROC Curve Visualization</a:t>
            </a:r>
            <a:endParaRPr lang="en-US" sz="2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450193"/>
            <a:ext cx="5257800" cy="2468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99521" y="617422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Logistic Regression (0.9728) and Random Forest (0.9765) show excellent ROC-AUC scores, significantly outperforming random chance.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8808" y="715685"/>
            <a:ext cx="9332714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Deep Learning &amp; Results Comparison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938808" y="1748909"/>
            <a:ext cx="12752665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Neural Networks achieve remarkable performance, especially with SMOTE.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38808" y="2298144"/>
            <a:ext cx="12752665" cy="2466499"/>
          </a:xfrm>
          <a:prstGeom prst="roundRect">
            <a:avLst>
              <a:gd name="adj" fmla="val 12262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28" y="2305764"/>
            <a:ext cx="4245769" cy="2451259"/>
          </a:xfrm>
          <a:prstGeom prst="roundRect">
            <a:avLst>
              <a:gd name="adj" fmla="val 12338"/>
            </a:avLst>
          </a:prstGeom>
          <a:solidFill>
            <a:srgbClr val="E6F7FF"/>
          </a:solidFill>
          <a:ln/>
        </p:spPr>
      </p:sp>
      <p:sp>
        <p:nvSpPr>
          <p:cNvPr id="6" name="Text 4"/>
          <p:cNvSpPr/>
          <p:nvPr/>
        </p:nvSpPr>
        <p:spPr>
          <a:xfrm>
            <a:off x="1148001" y="2507337"/>
            <a:ext cx="3540204" cy="63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Neural Network Architecture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8001" y="3258383"/>
            <a:ext cx="3540204" cy="96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lightweight sequential model with 3 dense layers and 1,988 trainable parameters.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192197" y="2305764"/>
            <a:ext cx="4245769" cy="2451259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9" name="Shape 7"/>
          <p:cNvSpPr/>
          <p:nvPr/>
        </p:nvSpPr>
        <p:spPr>
          <a:xfrm>
            <a:off x="5192197" y="2305764"/>
            <a:ext cx="22860" cy="2451259"/>
          </a:xfrm>
          <a:prstGeom prst="roundRect">
            <a:avLst>
              <a:gd name="adj" fmla="val 1322996"/>
            </a:avLst>
          </a:prstGeom>
          <a:solidFill>
            <a:srgbClr val="B3D5E4"/>
          </a:solidFill>
          <a:ln/>
        </p:spPr>
      </p:sp>
      <p:sp>
        <p:nvSpPr>
          <p:cNvPr id="10" name="Text 8"/>
          <p:cNvSpPr/>
          <p:nvPr/>
        </p:nvSpPr>
        <p:spPr>
          <a:xfrm>
            <a:off x="5696188" y="2507337"/>
            <a:ext cx="264533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Perfect Classification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696188" y="2943344"/>
            <a:ext cx="3237786" cy="161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Neural Network (undersampled) achieved 100% accuracy on the full test set (56,961 samples), with zero false positives and false negatives.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940260" y="3279398"/>
            <a:ext cx="503992" cy="503992"/>
          </a:xfrm>
          <a:prstGeom prst="roundRect">
            <a:avLst>
              <a:gd name="adj" fmla="val 60008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6228" y="3405366"/>
            <a:ext cx="251936" cy="25193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437965" y="2305764"/>
            <a:ext cx="4245769" cy="2451259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5" name="Shape 12"/>
          <p:cNvSpPr/>
          <p:nvPr/>
        </p:nvSpPr>
        <p:spPr>
          <a:xfrm>
            <a:off x="9437965" y="2305764"/>
            <a:ext cx="22860" cy="2451259"/>
          </a:xfrm>
          <a:prstGeom prst="roundRect">
            <a:avLst>
              <a:gd name="adj" fmla="val 1322996"/>
            </a:avLst>
          </a:prstGeom>
          <a:solidFill>
            <a:srgbClr val="B3D5E4"/>
          </a:solidFill>
          <a:ln/>
        </p:spPr>
      </p:sp>
      <p:sp>
        <p:nvSpPr>
          <p:cNvPr id="16" name="Text 13"/>
          <p:cNvSpPr/>
          <p:nvPr/>
        </p:nvSpPr>
        <p:spPr>
          <a:xfrm>
            <a:off x="9941957" y="2507337"/>
            <a:ext cx="2968585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SMOTE Neural Network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941957" y="2943344"/>
            <a:ext cx="3540204" cy="96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 on SMOTE data led to 99.98% accuracy and 100% validation accuracy, with extremely low loss.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9186029" y="3279398"/>
            <a:ext cx="503992" cy="503992"/>
          </a:xfrm>
          <a:prstGeom prst="roundRect">
            <a:avLst>
              <a:gd name="adj" fmla="val 60008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1997" y="3405366"/>
            <a:ext cx="251936" cy="2519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38808" y="5067062"/>
            <a:ext cx="3024307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Best Models</a:t>
            </a:r>
            <a:endParaRPr lang="en-US" sz="2350" dirty="0"/>
          </a:p>
        </p:txBody>
      </p:sp>
      <p:sp>
        <p:nvSpPr>
          <p:cNvPr id="21" name="Shape 17"/>
          <p:cNvSpPr/>
          <p:nvPr/>
        </p:nvSpPr>
        <p:spPr>
          <a:xfrm>
            <a:off x="938808" y="5747504"/>
            <a:ext cx="6275546" cy="604838"/>
          </a:xfrm>
          <a:prstGeom prst="roundRect">
            <a:avLst>
              <a:gd name="adj" fmla="val 48002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25372" y="5860852"/>
            <a:ext cx="302419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2350" dirty="0"/>
          </a:p>
        </p:txBody>
      </p:sp>
      <p:sp>
        <p:nvSpPr>
          <p:cNvPr id="23" name="Text 19"/>
          <p:cNvSpPr/>
          <p:nvPr/>
        </p:nvSpPr>
        <p:spPr>
          <a:xfrm>
            <a:off x="1140381" y="6553914"/>
            <a:ext cx="4102537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Neural Network (Undersampled)</a:t>
            </a:r>
            <a:endParaRPr lang="en-US" sz="1950" dirty="0"/>
          </a:p>
        </p:txBody>
      </p:sp>
      <p:sp>
        <p:nvSpPr>
          <p:cNvPr id="24" name="Text 20"/>
          <p:cNvSpPr/>
          <p:nvPr/>
        </p:nvSpPr>
        <p:spPr>
          <a:xfrm>
            <a:off x="1140381" y="6989921"/>
            <a:ext cx="587240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100% Accuracy, 0 FP, 0 FN.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7415927" y="5747504"/>
            <a:ext cx="6275546" cy="604838"/>
          </a:xfrm>
          <a:prstGeom prst="roundRect">
            <a:avLst>
              <a:gd name="adj" fmla="val 48002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402491" y="5860852"/>
            <a:ext cx="302419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2350" dirty="0"/>
          </a:p>
        </p:txBody>
      </p:sp>
      <p:sp>
        <p:nvSpPr>
          <p:cNvPr id="27" name="Text 23"/>
          <p:cNvSpPr/>
          <p:nvPr/>
        </p:nvSpPr>
        <p:spPr>
          <a:xfrm>
            <a:off x="7617500" y="6553914"/>
            <a:ext cx="3112770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Random Forest + SMOTE</a:t>
            </a:r>
            <a:endParaRPr lang="en-US" sz="1950" dirty="0"/>
          </a:p>
        </p:txBody>
      </p:sp>
      <p:sp>
        <p:nvSpPr>
          <p:cNvPr id="28" name="Text 24"/>
          <p:cNvSpPr/>
          <p:nvPr/>
        </p:nvSpPr>
        <p:spPr>
          <a:xfrm>
            <a:off x="7617500" y="6989921"/>
            <a:ext cx="587240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ROC-AUC 0.9991.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2026-01-23T03:47:25Z</dcterms:created>
  <dcterms:modified xsi:type="dcterms:W3CDTF">2026-01-23T03:47:25Z</dcterms:modified>
</cp:coreProperties>
</file>